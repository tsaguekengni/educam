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523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-v2/cover-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0" y="0"/>
            <a:ext cx="6705295" cy="6858000"/>
          </a:xfrm>
          <a:prstGeom prst="rect">
            <a:avLst/>
          </a:prstGeom>
          <a:solidFill>
            <a:srgbClr val="0A3626"/>
          </a:solidFill>
          <a:ln/>
        </p:spPr>
        <p:txBody>
          <a:bodyPr/>
          <a:lstStyle/>
          <a:p>
            <a:endParaRPr lang="en-CA" dirty="0"/>
          </a:p>
        </p:txBody>
      </p:sp>
      <p:sp>
        <p:nvSpPr>
          <p:cNvPr id="4" name="Shape 1"/>
          <p:cNvSpPr/>
          <p:nvPr/>
        </p:nvSpPr>
        <p:spPr>
          <a:xfrm>
            <a:off x="5486400" y="0"/>
            <a:ext cx="45720" cy="6858000"/>
          </a:xfrm>
          <a:prstGeom prst="rect">
            <a:avLst/>
          </a:prstGeom>
          <a:solidFill>
            <a:srgbClr val="FCD11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2"/>
          <p:cNvSpPr/>
          <p:nvPr/>
        </p:nvSpPr>
        <p:spPr>
          <a:xfrm>
            <a:off x="6076872" y="559536"/>
            <a:ext cx="696504" cy="631520"/>
          </a:xfrm>
          <a:prstGeom prst="roundRect">
            <a:avLst>
              <a:gd name="adj" fmla="val 16667"/>
            </a:avLst>
          </a:prstGeom>
          <a:solidFill>
            <a:srgbClr val="FCD116"/>
          </a:solidFill>
          <a:ln>
            <a:solidFill>
              <a:srgbClr val="FCD1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840492" y="566928"/>
            <a:ext cx="5196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EduCam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858779" y="914400"/>
            <a:ext cx="32414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A9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Mansa Musa Academy</a:t>
            </a:r>
            <a:endParaRPr lang="en-US" sz="1400" b="1" dirty="0"/>
          </a:p>
        </p:txBody>
      </p:sp>
      <p:sp>
        <p:nvSpPr>
          <p:cNvPr id="8" name="Shape 5"/>
          <p:cNvSpPr/>
          <p:nvPr/>
        </p:nvSpPr>
        <p:spPr>
          <a:xfrm>
            <a:off x="6007608" y="2286000"/>
            <a:ext cx="822960" cy="73152"/>
          </a:xfrm>
          <a:prstGeom prst="roundRect">
            <a:avLst>
              <a:gd name="adj" fmla="val 50000"/>
            </a:avLst>
          </a:prstGeom>
          <a:solidFill>
            <a:srgbClr val="FCD11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5989320" y="2505456"/>
            <a:ext cx="588233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never chooses where they’re born — but today, </a:t>
            </a:r>
            <a:r>
              <a:rPr lang="en-US" sz="290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they’re born decides the education they get.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989320" y="5669280"/>
            <a:ext cx="5882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EduCam — the daily operating system for the primary classroom.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989320" y="6035040"/>
            <a:ext cx="5882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80" dirty="0">
                <a:solidFill>
                  <a:srgbClr val="A9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briefing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1EFE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167567" y="420624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 of a child’s education is a lottery — of where they’re born and which teacher they get.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3931920" cy="3255264"/>
          </a:xfrm>
          <a:prstGeom prst="roundRect">
            <a:avLst>
              <a:gd name="adj" fmla="val 3933"/>
            </a:avLst>
          </a:prstGeom>
          <a:solidFill>
            <a:srgbClr val="0A3626"/>
          </a:solidFill>
          <a:ln w="12700">
            <a:solidFill>
              <a:srgbClr val="0A3626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 sz="2400"/>
          </a:p>
        </p:txBody>
      </p:sp>
      <p:sp>
        <p:nvSpPr>
          <p:cNvPr id="6" name="Text 4"/>
          <p:cNvSpPr/>
          <p:nvPr/>
        </p:nvSpPr>
        <p:spPr>
          <a:xfrm>
            <a:off x="896112" y="25968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BF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50392" y="2944368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905256" y="4041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poverty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05256" y="4407408"/>
            <a:ext cx="3273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6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isn’t school access — it’s the absence of standardized, verified learning, every day.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1209" y="5171616"/>
            <a:ext cx="382763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8C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· UNESCO · UNICEF — State of Global Learning Poverty, 2022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2286000"/>
            <a:ext cx="6912864" cy="1024128"/>
          </a:xfrm>
          <a:prstGeom prst="roundRect">
            <a:avLst>
              <a:gd name="adj" fmla="val 9821"/>
            </a:avLst>
          </a:prstGeom>
          <a:solidFill>
            <a:srgbClr val="FFFFF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 sz="2400"/>
          </a:p>
        </p:txBody>
      </p:sp>
      <p:sp>
        <p:nvSpPr>
          <p:cNvPr id="12" name="Text 10"/>
          <p:cNvSpPr/>
          <p:nvPr/>
        </p:nvSpPr>
        <p:spPr>
          <a:xfrm>
            <a:off x="4892040" y="245973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40680" y="2423160"/>
            <a:ext cx="4489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aren’t standardized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994392" y="2459736"/>
            <a:ext cx="1481328" cy="274320"/>
          </a:xfrm>
          <a:prstGeom prst="roundRect">
            <a:avLst>
              <a:gd name="adj" fmla="val 20000"/>
            </a:avLst>
          </a:prstGeom>
          <a:solidFill>
            <a:srgbClr val="EAF1E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variance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40680" y="2761488"/>
            <a:ext cx="5998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teacher builds from scratch. Quality swings class to class, and the best teachers cluster in cities — leaving rural classrooms behind.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3410712"/>
            <a:ext cx="6912864" cy="1024128"/>
          </a:xfrm>
          <a:prstGeom prst="roundRect">
            <a:avLst>
              <a:gd name="adj" fmla="val 9821"/>
            </a:avLst>
          </a:prstGeom>
          <a:solidFill>
            <a:srgbClr val="FFFFF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 sz="2400"/>
          </a:p>
        </p:txBody>
      </p:sp>
      <p:sp>
        <p:nvSpPr>
          <p:cNvPr id="17" name="Text 15"/>
          <p:cNvSpPr/>
          <p:nvPr/>
        </p:nvSpPr>
        <p:spPr>
          <a:xfrm>
            <a:off x="4892040" y="358444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40680" y="3547872"/>
            <a:ext cx="4489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 of silent learning loss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994392" y="3584448"/>
            <a:ext cx="1481328" cy="274320"/>
          </a:xfrm>
          <a:prstGeom prst="roundRect">
            <a:avLst>
              <a:gd name="adj" fmla="val 20000"/>
            </a:avLst>
          </a:prstGeom>
          <a:solidFill>
            <a:srgbClr val="EAF1E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loop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40680" y="3886200"/>
            <a:ext cx="5998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report cards, directors and parents operate blind. A child who slips in October goes unnoticed until grades fall in February.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09160" y="4535424"/>
            <a:ext cx="6912864" cy="1024128"/>
          </a:xfrm>
          <a:prstGeom prst="roundRect">
            <a:avLst>
              <a:gd name="adj" fmla="val 9821"/>
            </a:avLst>
          </a:prstGeom>
          <a:solidFill>
            <a:srgbClr val="FFFFF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 sz="2400"/>
          </a:p>
        </p:txBody>
      </p:sp>
      <p:sp>
        <p:nvSpPr>
          <p:cNvPr id="22" name="Text 20"/>
          <p:cNvSpPr/>
          <p:nvPr/>
        </p:nvSpPr>
        <p:spPr>
          <a:xfrm>
            <a:off x="4892040" y="470916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40680" y="4672584"/>
            <a:ext cx="4489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edtech breaks here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994392" y="4709160"/>
            <a:ext cx="1481328" cy="274320"/>
          </a:xfrm>
          <a:prstGeom prst="roundRect">
            <a:avLst>
              <a:gd name="adj" fmla="val 20000"/>
            </a:avLst>
          </a:prstGeom>
          <a:solidFill>
            <a:srgbClr val="EAF1E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gap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40680" y="5010912"/>
            <a:ext cx="5998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cuts and costly mobile data make pure-cloud, device-per-child software unusable in ordinary schools.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" y="5815584"/>
            <a:ext cx="11057839" cy="658368"/>
          </a:xfrm>
          <a:prstGeom prst="roundRect">
            <a:avLst>
              <a:gd name="adj" fmla="val 13889"/>
            </a:avLst>
          </a:prstGeom>
          <a:solidFill>
            <a:srgbClr val="EBF3E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 sz="2400"/>
          </a:p>
        </p:txBody>
      </p:sp>
      <p:sp>
        <p:nvSpPr>
          <p:cNvPr id="27" name="Text 25"/>
          <p:cNvSpPr/>
          <p:nvPr/>
        </p:nvSpPr>
        <p:spPr>
          <a:xfrm>
            <a:off x="778215" y="5815584"/>
            <a:ext cx="168152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BEARS THE COST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24328" y="5815584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Directors  </a:t>
            </a:r>
            <a:r>
              <a:rPr lang="en-US" sz="14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on results, fly blind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824728" y="581558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 </a:t>
            </a:r>
            <a:r>
              <a:rPr lang="en-US" sz="14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prep, no data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14620" y="581558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 </a:t>
            </a:r>
            <a:r>
              <a:rPr lang="en-US" sz="14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500–700 CAD/yr, locked out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487168" y="5961888"/>
            <a:ext cx="0" cy="365760"/>
          </a:xfrm>
          <a:prstGeom prst="line">
            <a:avLst/>
          </a:prstGeom>
          <a:noFill/>
          <a:ln w="12700">
            <a:solidFill>
              <a:srgbClr val="C5DBD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2" name="Shape 30"/>
          <p:cNvSpPr/>
          <p:nvPr/>
        </p:nvSpPr>
        <p:spPr>
          <a:xfrm>
            <a:off x="5687568" y="5961888"/>
            <a:ext cx="0" cy="365760"/>
          </a:xfrm>
          <a:prstGeom prst="line">
            <a:avLst/>
          </a:prstGeom>
          <a:noFill/>
          <a:ln w="12700">
            <a:solidFill>
              <a:srgbClr val="C5DBD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3" name="Shape 31"/>
          <p:cNvSpPr/>
          <p:nvPr/>
        </p:nvSpPr>
        <p:spPr>
          <a:xfrm>
            <a:off x="8494969" y="5961888"/>
            <a:ext cx="0" cy="365760"/>
          </a:xfrm>
          <a:prstGeom prst="line">
            <a:avLst/>
          </a:prstGeom>
          <a:noFill/>
          <a:ln w="12700">
            <a:solidFill>
              <a:srgbClr val="C5DBD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4" name="Text 32"/>
          <p:cNvSpPr/>
          <p:nvPr/>
        </p:nvSpPr>
        <p:spPr>
          <a:xfrm>
            <a:off x="11277295" y="6537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1EFE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167567" y="420624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standard of teaching, in every classroom — and proof it’s working.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838529"/>
            <a:ext cx="3931920" cy="3255264"/>
          </a:xfrm>
          <a:prstGeom prst="roundRect">
            <a:avLst>
              <a:gd name="adj" fmla="val 3933"/>
            </a:avLst>
          </a:prstGeom>
          <a:solidFill>
            <a:srgbClr val="0A3626"/>
          </a:solidFill>
          <a:ln w="12700">
            <a:solidFill>
              <a:srgbClr val="0A3626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896112" y="2131137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F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05256" y="2487753"/>
            <a:ext cx="640080" cy="54864"/>
          </a:xfrm>
          <a:prstGeom prst="roundRect">
            <a:avLst>
              <a:gd name="adj" fmla="val 50000"/>
            </a:avLst>
          </a:prstGeom>
          <a:solidFill>
            <a:srgbClr val="FCD11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896112" y="2643201"/>
            <a:ext cx="3310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operating system for the primary classroom.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3607893"/>
            <a:ext cx="91440" cy="91440"/>
          </a:xfrm>
          <a:prstGeom prst="roundRect">
            <a:avLst>
              <a:gd name="adj" fmla="val 30000"/>
            </a:avLst>
          </a:prstGeom>
          <a:solidFill>
            <a:srgbClr val="FCD11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1115568" y="3539313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 </a:t>
            </a:r>
            <a:r>
              <a:rPr lang="en-US" sz="1400" dirty="0">
                <a:solidFill>
                  <a:srgbClr val="B7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projector + solar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914217"/>
            <a:ext cx="91440" cy="91440"/>
          </a:xfrm>
          <a:prstGeom prst="roundRect">
            <a:avLst>
              <a:gd name="adj" fmla="val 30000"/>
            </a:avLst>
          </a:prstGeom>
          <a:solidFill>
            <a:srgbClr val="FCD11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1115568" y="3845637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 </a:t>
            </a:r>
            <a:r>
              <a:rPr lang="en-US" sz="1400" dirty="0">
                <a:solidFill>
                  <a:srgbClr val="B7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teacher, director &amp; parent apps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4220541"/>
            <a:ext cx="91440" cy="91440"/>
          </a:xfrm>
          <a:prstGeom prst="roundRect">
            <a:avLst>
              <a:gd name="adj" fmla="val 30000"/>
            </a:avLst>
          </a:prstGeom>
          <a:solidFill>
            <a:srgbClr val="FCD11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1115568" y="4151961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 </a:t>
            </a:r>
            <a:r>
              <a:rPr lang="en-US" sz="1400" dirty="0">
                <a:solidFill>
                  <a:srgbClr val="B7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curriculum-aligned lessons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5256" y="4526865"/>
            <a:ext cx="3255264" cy="402336"/>
          </a:xfrm>
          <a:prstGeom prst="roundRect">
            <a:avLst>
              <a:gd name="adj" fmla="val 18182"/>
            </a:avLst>
          </a:prstGeom>
          <a:solidFill>
            <a:srgbClr val="FCD11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 — WE EQUIP EVERY SCHOOL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1838529"/>
            <a:ext cx="6912864" cy="1024128"/>
          </a:xfrm>
          <a:prstGeom prst="roundRect">
            <a:avLst>
              <a:gd name="adj" fmla="val 9821"/>
            </a:avLst>
          </a:prstGeom>
          <a:solidFill>
            <a:srgbClr val="FFFFF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4892040" y="2012265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40680" y="1975689"/>
            <a:ext cx="4626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strong lesson, everywhere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140696" y="2012265"/>
            <a:ext cx="1335024" cy="274320"/>
          </a:xfrm>
          <a:prstGeom prst="roundRect">
            <a:avLst>
              <a:gd name="adj" fmla="val 20000"/>
            </a:avLst>
          </a:prstGeom>
          <a:solidFill>
            <a:srgbClr val="EAF1E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40680" y="2314017"/>
            <a:ext cx="5998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classroom gets a ready-made, visual lesson — quality no longer depends on teacher luck or geography.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09160" y="2963241"/>
            <a:ext cx="6912864" cy="1024128"/>
          </a:xfrm>
          <a:prstGeom prst="roundRect">
            <a:avLst>
              <a:gd name="adj" fmla="val 9821"/>
            </a:avLst>
          </a:prstGeom>
          <a:solidFill>
            <a:srgbClr val="FFFFF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4892040" y="3136977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440680" y="3100401"/>
            <a:ext cx="4626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becomes visible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140696" y="3136977"/>
            <a:ext cx="1335024" cy="274320"/>
          </a:xfrm>
          <a:prstGeom prst="roundRect">
            <a:avLst>
              <a:gd name="adj" fmla="val 20000"/>
            </a:avLst>
          </a:prstGeom>
          <a:solidFill>
            <a:srgbClr val="EAF1E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40680" y="3438729"/>
            <a:ext cx="5998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5-minute check reveals who understood: directors see school-wide trends; parents get a message home the same evening.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09160" y="4087953"/>
            <a:ext cx="6912864" cy="1024128"/>
          </a:xfrm>
          <a:prstGeom prst="roundRect">
            <a:avLst>
              <a:gd name="adj" fmla="val 9821"/>
            </a:avLst>
          </a:prstGeom>
          <a:solidFill>
            <a:srgbClr val="FFFFF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4892040" y="4261689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440680" y="4225113"/>
            <a:ext cx="4626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run anywhere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140696" y="4261689"/>
            <a:ext cx="1335024" cy="274320"/>
          </a:xfrm>
          <a:prstGeom prst="roundRect">
            <a:avLst>
              <a:gd name="adj" fmla="val 20000"/>
            </a:avLst>
          </a:prstGeom>
          <a:solidFill>
            <a:srgbClr val="EAF1E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40680" y="4563441"/>
            <a:ext cx="5998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through blackouts with no internet — battery projector, solar power, and download-the-week sync.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66928" y="5552937"/>
            <a:ext cx="11057839" cy="658368"/>
          </a:xfrm>
          <a:prstGeom prst="roundRect">
            <a:avLst>
              <a:gd name="adj" fmla="val 13889"/>
            </a:avLst>
          </a:prstGeom>
          <a:solidFill>
            <a:srgbClr val="EBF3E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 sz="2400"/>
          </a:p>
        </p:txBody>
      </p:sp>
      <p:sp>
        <p:nvSpPr>
          <p:cNvPr id="32" name="Text 30"/>
          <p:cNvSpPr/>
          <p:nvPr/>
        </p:nvSpPr>
        <p:spPr>
          <a:xfrm>
            <a:off x="932688" y="5552937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school:  </a:t>
            </a:r>
            <a:r>
              <a:rPr lang="en-US" sz="16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quality and win parents’ trust.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10719" y="5699241"/>
            <a:ext cx="0" cy="365760"/>
          </a:xfrm>
          <a:prstGeom prst="line">
            <a:avLst/>
          </a:prstGeom>
          <a:noFill/>
          <a:ln w="12700">
            <a:solidFill>
              <a:srgbClr val="C5DBD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6325700" y="5552937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child:  </a:t>
            </a:r>
            <a:r>
              <a:rPr lang="en-US" sz="16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chance to learn — wherever they are.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277295" y="6537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E1EFE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50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LESSON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1167567" y="420624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teach the way the brain remembers: by picturing it.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71942" y="1530453"/>
            <a:ext cx="117607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edtech digitizes the textbook. We turn each concept into </a:t>
            </a:r>
            <a:r>
              <a:rPr lang="en-US" sz="16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picture the child keeps</a:t>
            </a:r>
            <a:r>
              <a:rPr lang="en-US" sz="16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real CM1 science lesson: the states of matter.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3383280" cy="3401568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 sz="2400"/>
          </a:p>
        </p:txBody>
      </p:sp>
      <p:sp>
        <p:nvSpPr>
          <p:cNvPr id="7" name="Text 5"/>
          <p:cNvSpPr/>
          <p:nvPr/>
        </p:nvSpPr>
        <p:spPr>
          <a:xfrm>
            <a:off x="804672" y="217627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43584" y="21762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80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</a:t>
            </a:r>
            <a:endParaRPr lang="en-US" dirty="0"/>
          </a:p>
        </p:txBody>
      </p:sp>
      <p:pic>
        <p:nvPicPr>
          <p:cNvPr id="9" name="Image 0" descr="/home/claude/deck-v2/panel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" y="2596896"/>
            <a:ext cx="3044952" cy="1737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4462272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state shown as something real — a stone, water, steam, the sun.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69848" y="4992624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EAF1E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encoding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407408" y="1975104"/>
            <a:ext cx="3383280" cy="3401568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 sz="2400"/>
          </a:p>
        </p:txBody>
      </p:sp>
      <p:sp>
        <p:nvSpPr>
          <p:cNvPr id="13" name="Text 10"/>
          <p:cNvSpPr/>
          <p:nvPr/>
        </p:nvSpPr>
        <p:spPr>
          <a:xfrm>
            <a:off x="4645152" y="217627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84064" y="21762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80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IT</a:t>
            </a:r>
            <a:endParaRPr lang="en-US" dirty="0"/>
          </a:p>
        </p:txBody>
      </p:sp>
      <p:pic>
        <p:nvPicPr>
          <p:cNvPr id="15" name="Image 1" descr="/home/claude/deck-v2/panel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572" y="2596896"/>
            <a:ext cx="3044952" cy="17373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63440" y="4462272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behaviour made visible — keeps its shape, takes the shape, fills the space.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910328" y="4992624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EAF1E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concrete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247888" y="1975104"/>
            <a:ext cx="3383280" cy="3401568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 sz="2400"/>
          </a:p>
        </p:txBody>
      </p:sp>
      <p:sp>
        <p:nvSpPr>
          <p:cNvPr id="19" name="Text 15"/>
          <p:cNvSpPr/>
          <p:nvPr/>
        </p:nvSpPr>
        <p:spPr>
          <a:xfrm>
            <a:off x="8485632" y="217627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8924544" y="21762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80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IT</a:t>
            </a:r>
            <a:endParaRPr lang="en-US" dirty="0"/>
          </a:p>
        </p:txBody>
      </p:sp>
      <p:pic>
        <p:nvPicPr>
          <p:cNvPr id="21" name="Image 2" descr="/home/claude/deck-v2/panel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052" y="2596896"/>
            <a:ext cx="3044952" cy="17373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03920" y="4462272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class applies it — sorting real things into solid, liquid, gas.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750808" y="4992624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EAF1E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recall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041648" y="30266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5" name="Text 20"/>
          <p:cNvSpPr/>
          <p:nvPr/>
        </p:nvSpPr>
        <p:spPr>
          <a:xfrm>
            <a:off x="7882128" y="30266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6" name="Text 21"/>
          <p:cNvSpPr/>
          <p:nvPr/>
        </p:nvSpPr>
        <p:spPr>
          <a:xfrm>
            <a:off x="566928" y="550468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learning science — dual-coding theory &amp; the multimedia principle.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566928" y="5797296"/>
            <a:ext cx="11057839" cy="694944"/>
          </a:xfrm>
          <a:prstGeom prst="roundRect">
            <a:avLst>
              <a:gd name="adj" fmla="val 13158"/>
            </a:avLst>
          </a:prstGeom>
          <a:solidFill>
            <a:srgbClr val="0A3626"/>
          </a:solidFill>
          <a:ln w="12700">
            <a:solidFill>
              <a:srgbClr val="0A3626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 sz="2400"/>
          </a:p>
        </p:txBody>
      </p:sp>
      <p:sp>
        <p:nvSpPr>
          <p:cNvPr id="28" name="Text 23"/>
          <p:cNvSpPr/>
          <p:nvPr/>
        </p:nvSpPr>
        <p:spPr>
          <a:xfrm>
            <a:off x="932688" y="5797296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craft is the moat.  </a:t>
            </a:r>
            <a:r>
              <a:rPr lang="en-US" sz="1600" dirty="0">
                <a:solidFill>
                  <a:srgbClr val="E7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In-house, curriculum-mapped lessons — illustrated and animated in our own style — are expensive to build, hard to copy, and why adoption sticks.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11277295" y="6547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788920" cy="310896"/>
          </a:xfrm>
          <a:prstGeom prst="roundRect">
            <a:avLst>
              <a:gd name="adj" fmla="val 50000"/>
            </a:avLst>
          </a:prstGeom>
          <a:solidFill>
            <a:srgbClr val="E1EFE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50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HOW IT WORKS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1167567" y="36576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daily loop turns each school day into learning — and data.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131673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offline, on real working software. </a:t>
            </a:r>
            <a:r>
              <a:rPr lang="en-US" sz="15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four-step routine runs every school day — turning each day into data the school can act 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773936"/>
            <a:ext cx="5394960" cy="1993392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2"/>
          <a:srcRect l="1" r="26573"/>
          <a:stretch>
            <a:fillRect/>
          </a:stretch>
        </p:blipFill>
        <p:spPr>
          <a:xfrm>
            <a:off x="713231" y="1870862"/>
            <a:ext cx="2818007" cy="17501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968496" y="199339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389120" y="1993392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968496" y="2414016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AF1E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968496" y="2798064"/>
            <a:ext cx="18785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day’s visual lesson on the projector — a short paper check, corrected together in class.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45352" y="1773936"/>
            <a:ext cx="5394960" cy="1993392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Text 10"/>
          <p:cNvSpPr/>
          <p:nvPr/>
        </p:nvSpPr>
        <p:spPr>
          <a:xfrm>
            <a:off x="9646920" y="199339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0067544" y="1993392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9646920" y="2414016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AF1E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9646920" y="2798064"/>
            <a:ext cx="19095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minutes: three taps per pupil — Got it · Needs work · Not yet. Strugglers flagged automatically.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66928" y="4005072"/>
            <a:ext cx="5394960" cy="1993392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Text 15"/>
          <p:cNvSpPr/>
          <p:nvPr/>
        </p:nvSpPr>
        <p:spPr>
          <a:xfrm>
            <a:off x="3968496" y="422452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A3626"/>
          </a:solidFill>
          <a:ln>
            <a:solidFill>
              <a:srgbClr val="0A362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389120" y="4224528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&amp; ACT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3968496" y="4645152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0A362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3968496" y="502920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and director see it live — who’s behind, and which class needs to catch up.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245352" y="4005072"/>
            <a:ext cx="5394960" cy="1993392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Text 20"/>
          <p:cNvSpPr/>
          <p:nvPr/>
        </p:nvSpPr>
        <p:spPr>
          <a:xfrm>
            <a:off x="9646920" y="422452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C79A00"/>
          </a:solidFill>
          <a:ln>
            <a:solidFill>
              <a:srgbClr val="C79A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0067544" y="4224528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9646920" y="4645152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AF1E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C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9646920" y="502920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goes home the same evening — the exact lesson to review with the child.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66928" y="6089904"/>
            <a:ext cx="64661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Repeats every school day</a:t>
            </a:r>
            <a:r>
              <a:rPr lang="en-US" sz="14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syncs automatically when a network is available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7360920" y="6089904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EAF1E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offline-first</a:t>
            </a:r>
            <a:endParaRPr lang="en-US" sz="1400" dirty="0"/>
          </a:p>
        </p:txBody>
      </p:sp>
      <p:pic>
        <p:nvPicPr>
          <p:cNvPr id="32" name="Image 4" descr="/home/claude/deck-v2/qr-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6044184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802368" y="60899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running </a:t>
            </a:r>
            <a:r>
              <a:rPr lang="en-US" sz="11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2-min demo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11277295" y="65653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6B85847F-265A-083C-490A-171478201A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125" b="30842"/>
          <a:stretch>
            <a:fillRect/>
          </a:stretch>
        </p:blipFill>
        <p:spPr>
          <a:xfrm>
            <a:off x="6404836" y="1919284"/>
            <a:ext cx="3104924" cy="1701739"/>
          </a:xfrm>
          <a:prstGeom prst="rect">
            <a:avLst/>
          </a:prstGeom>
        </p:spPr>
      </p:pic>
      <p:pic>
        <p:nvPicPr>
          <p:cNvPr id="40" name="Image 39">
            <a:extLst>
              <a:ext uri="{FF2B5EF4-FFF2-40B4-BE49-F238E27FC236}">
                <a16:creationId xmlns:a16="http://schemas.microsoft.com/office/drawing/2014/main" id="{86D1B478-B3C5-AE5A-D8A4-EB7D5BD7937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964" r="43287" b="26233"/>
          <a:stretch>
            <a:fillRect/>
          </a:stretch>
        </p:blipFill>
        <p:spPr>
          <a:xfrm>
            <a:off x="6404837" y="4106638"/>
            <a:ext cx="3104923" cy="1790260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2FA13F39-1ADD-C18E-050E-2EDAB66A6DE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125" r="824" b="16725"/>
          <a:stretch>
            <a:fillRect/>
          </a:stretch>
        </p:blipFill>
        <p:spPr>
          <a:xfrm>
            <a:off x="716321" y="4200822"/>
            <a:ext cx="3020582" cy="16567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E1EFE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MARKET OPPORTUNITY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167567" y="347472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now: a paying generation demanding quality, follow-up, and tech.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124358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size bottom-up from a real beachhead</a:t>
            </a:r>
            <a:r>
              <a:rPr lang="en-US" sz="16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top-down from a continent. The demand is already here and paying.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1700784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DEMAND TAILWINDS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6383" y="1993392"/>
            <a:ext cx="2983765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768096" y="2121408"/>
            <a:ext cx="2391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58368" y="2401952"/>
            <a:ext cx="23911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primary is private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368" y="2603120"/>
            <a:ext cx="24277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paying middle class — and the share is rising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79876" y="1993392"/>
            <a:ext cx="2878124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3781044" y="2121408"/>
            <a:ext cx="2391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incomes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771316" y="2401952"/>
            <a:ext cx="23911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time-poor families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61788" y="2603120"/>
            <a:ext cx="27934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parents work — they pay the school to follow up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6383" y="3072384"/>
            <a:ext cx="2983765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768096" y="3200400"/>
            <a:ext cx="2391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68096" y="3529584"/>
            <a:ext cx="23911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battleground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5839" y="3767328"/>
            <a:ext cx="27934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must deliver it — and prove it — to keep parents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79876" y="3072384"/>
            <a:ext cx="2878124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3781044" y="3200400"/>
            <a:ext cx="2391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3781044" y="3529584"/>
            <a:ext cx="23911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reach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44856" y="3730752"/>
            <a:ext cx="27569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family is reachable on a phone; internet at 42%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0" y="1700784"/>
            <a:ext cx="5041087" cy="2194560"/>
          </a:xfrm>
          <a:prstGeom prst="roundRect">
            <a:avLst>
              <a:gd name="adj" fmla="val 5833"/>
            </a:avLst>
          </a:prstGeom>
          <a:solidFill>
            <a:srgbClr val="0A3626"/>
          </a:solidFill>
          <a:ln w="12700">
            <a:solidFill>
              <a:srgbClr val="0A3626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6894576" y="1938528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BF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 TO PAY IS ALREADY PROVEN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85432" y="2286000"/>
            <a:ext cx="44375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CAD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student / year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894576" y="2889504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6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just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15–20%</a:t>
            </a:r>
            <a:r>
              <a:rPr lang="en-US" sz="1400" dirty="0">
                <a:solidFill>
                  <a:srgbClr val="C6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500–700 CAD</a:t>
            </a:r>
            <a:r>
              <a:rPr lang="en-US" sz="1400" dirty="0">
                <a:solidFill>
                  <a:srgbClr val="C6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parents already pay in fees.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94576" y="3364992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by a small fee increase — zero new cost to the family.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41148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SIZING  ·  the expansion story, at 100 CAD / student / yr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4443984"/>
            <a:ext cx="3163824" cy="1170432"/>
          </a:xfrm>
          <a:prstGeom prst="roundRect">
            <a:avLst>
              <a:gd name="adj" fmla="val 9375"/>
            </a:avLst>
          </a:prstGeom>
          <a:solidFill>
            <a:srgbClr val="DCEFE6"/>
          </a:solidFill>
          <a:ln/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786384" y="46085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86384" y="484632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 CAD/yr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86384" y="5202936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200k pupils × 100 CAD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86384" y="5376672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 — Douala + Yaoundé, private primary CE1–CM2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07992" y="4443984"/>
            <a:ext cx="3163824" cy="1170432"/>
          </a:xfrm>
          <a:prstGeom prst="roundRect">
            <a:avLst>
              <a:gd name="adj" fmla="val 9375"/>
            </a:avLst>
          </a:prstGeom>
          <a:solidFill>
            <a:srgbClr val="0A5C43"/>
          </a:solidFill>
          <a:ln/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4727448" y="46085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727448" y="484632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80M+ CAD/yr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727448" y="5202936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0.8M pupils × 100 CAD  (+ secondary)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27448" y="5376672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900" dirty="0">
                <a:solidFill>
                  <a:srgbClr val="BF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Cameroon — private primary nationwide, then secondary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449056" y="4443984"/>
            <a:ext cx="3163824" cy="1170432"/>
          </a:xfrm>
          <a:prstGeom prst="roundRect">
            <a:avLst>
              <a:gd name="adj" fmla="val 9375"/>
            </a:avLst>
          </a:prstGeom>
          <a:solidFill>
            <a:srgbClr val="0A3626"/>
          </a:solidFill>
          <a:ln/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8668512" y="46085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668512" y="484632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1B+ CAD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8668512" y="5202936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ceiling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668512" y="5376672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900" dirty="0">
                <a:solidFill>
                  <a:srgbClr val="BF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K–12 — francophone + anglophone Africa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730752" y="470001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45" name="Text 43"/>
          <p:cNvSpPr/>
          <p:nvPr/>
        </p:nvSpPr>
        <p:spPr>
          <a:xfrm>
            <a:off x="3730752" y="510235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secondary
</a:t>
            </a: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ARPU · ~0 CAC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671816" y="470001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47" name="Text 45"/>
          <p:cNvSpPr/>
          <p:nvPr/>
        </p:nvSpPr>
        <p:spPr>
          <a:xfrm>
            <a:off x="7671816" y="510235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proven
</a:t>
            </a: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new countries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66928" y="5797296"/>
            <a:ext cx="11057839" cy="548640"/>
          </a:xfrm>
          <a:prstGeom prst="roundRect">
            <a:avLst>
              <a:gd name="adj" fmla="val 16667"/>
            </a:avLst>
          </a:prstGeom>
          <a:solidFill>
            <a:srgbClr val="EBF3EF"/>
          </a:solidFill>
          <a:ln w="12700">
            <a:solidFill>
              <a:srgbClr val="DCE8E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9" name="Text 47"/>
          <p:cNvSpPr/>
          <p:nvPr/>
        </p:nvSpPr>
        <p:spPr>
          <a:xfrm>
            <a:off x="877824" y="5797296"/>
            <a:ext cx="10509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LTV:  </a:t>
            </a:r>
            <a:r>
              <a:rPr lang="en-US" sz="14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child at CE1 and keep them through secondary — up to </a:t>
            </a:r>
            <a:r>
              <a:rPr lang="en-US" sz="14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 school years</a:t>
            </a:r>
            <a:r>
              <a:rPr lang="en-US" sz="14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child, at near-zero repeat acquisition cost.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66928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World Bank — private share of primary enrolment 25% (2024), 4.94M primary pupils (2022); DataReportal Digital 2026 — mobile 96%, internet 42%. Market figures are EduCam estimates at 100 CAD ARPU.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77295" y="65836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3931920" cy="310896"/>
          </a:xfrm>
          <a:prstGeom prst="roundRect">
            <a:avLst>
              <a:gd name="adj" fmla="val 50000"/>
            </a:avLst>
          </a:prstGeom>
          <a:solidFill>
            <a:srgbClr val="E1EFE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30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BUSINESS &amp; REVENUE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1167567" y="347472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35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economics work from day one — with built-in operating leverage.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566928" y="124358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 is the customer: </a:t>
            </a:r>
            <a:r>
              <a:rPr lang="en-US" sz="16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CAD / student / year</a:t>
            </a:r>
            <a:r>
              <a:rPr lang="en-US" sz="16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all-inclusive and annual recurring — funded by a small fee increase.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168249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70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— POSITIVE FROM DAY ONE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43434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 sz="2400"/>
          </a:p>
        </p:txBody>
      </p:sp>
      <p:sp>
        <p:nvSpPr>
          <p:cNvPr id="8" name="Text 6"/>
          <p:cNvSpPr/>
          <p:nvPr/>
        </p:nvSpPr>
        <p:spPr>
          <a:xfrm>
            <a:off x="804672" y="2139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school (CAD)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78608" y="21396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30168" y="21396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classes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24505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Revenue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78608" y="2450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30168" y="2450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36,000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27614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Material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78608" y="2761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30168" y="2761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" y="30723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Référent, internet, misc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78608" y="30723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30168" y="30723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" y="3401568"/>
            <a:ext cx="3867912" cy="0"/>
          </a:xfrm>
          <a:prstGeom prst="line">
            <a:avLst/>
          </a:prstGeom>
          <a:noFill/>
          <a:ln w="12700">
            <a:solidFill>
              <a:srgbClr val="DCE8E2"/>
            </a:solidFill>
            <a:prstDash val="solid"/>
          </a:ln>
        </p:spPr>
        <p:txBody>
          <a:bodyPr/>
          <a:lstStyle/>
          <a:p>
            <a:endParaRPr lang="en-CA" sz="2800"/>
          </a:p>
        </p:txBody>
      </p:sp>
      <p:sp>
        <p:nvSpPr>
          <p:cNvPr id="21" name="Text 19"/>
          <p:cNvSpPr/>
          <p:nvPr/>
        </p:nvSpPr>
        <p:spPr>
          <a:xfrm>
            <a:off x="804672" y="34930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578608" y="345643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
</a:t>
            </a:r>
            <a:r>
              <a:rPr lang="en-US" sz="14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630168" y="345643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23,000
</a:t>
            </a:r>
            <a:r>
              <a:rPr lang="en-US" sz="14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66928" y="4370832"/>
            <a:ext cx="2103120" cy="310896"/>
          </a:xfrm>
          <a:prstGeom prst="roundRect">
            <a:avLst>
              <a:gd name="adj" fmla="val 47059"/>
            </a:avLst>
          </a:prstGeom>
          <a:solidFill>
            <a:srgbClr val="EDF6F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Positive from day 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07208" y="4370832"/>
            <a:ext cx="2103120" cy="310896"/>
          </a:xfrm>
          <a:prstGeom prst="roundRect">
            <a:avLst>
              <a:gd name="adj" fmla="val 47059"/>
            </a:avLst>
          </a:prstGeom>
          <a:solidFill>
            <a:srgbClr val="EDF6F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Hardware payback &lt; 1 yr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" y="482803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LEVERS OF MARGIN EXPANSION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5129784"/>
            <a:ext cx="54864" cy="310896"/>
          </a:xfrm>
          <a:prstGeom prst="roundRect">
            <a:avLst>
              <a:gd name="adj" fmla="val 50000"/>
            </a:avLst>
          </a:prstGeom>
          <a:solidFill>
            <a:srgbClr val="007A5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731520" y="5102352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size  </a:t>
            </a:r>
            <a:r>
              <a:rPr lang="en-US" sz="14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→ 64%</a:t>
            </a: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more classes share the fixed per-school cost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5513832"/>
            <a:ext cx="54864" cy="310896"/>
          </a:xfrm>
          <a:prstGeom prst="roundRect">
            <a:avLst>
              <a:gd name="adj" fmla="val 50000"/>
            </a:avLst>
          </a:prstGeom>
          <a:solidFill>
            <a:srgbClr val="007A5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731520" y="5486400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 clustering  </a:t>
            </a:r>
            <a:r>
              <a:rPr lang="en-US" sz="14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~53% / 68%+</a:t>
            </a: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one référent across 2–3 nearby schools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94960" y="1682496"/>
            <a:ext cx="62298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70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ARCHITECTURE — CORE ENGINE + EXPANSION UPSIDE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394960" y="1975104"/>
            <a:ext cx="6229807" cy="1773936"/>
          </a:xfrm>
          <a:prstGeom prst="roundRect">
            <a:avLst>
              <a:gd name="adj" fmla="val 7216"/>
            </a:avLst>
          </a:prstGeom>
          <a:solidFill>
            <a:srgbClr val="0A3626"/>
          </a:solidFill>
          <a:ln w="12700">
            <a:solidFill>
              <a:srgbClr val="0A3626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 sz="2000"/>
          </a:p>
        </p:txBody>
      </p:sp>
      <p:sp>
        <p:nvSpPr>
          <p:cNvPr id="33" name="Text 31"/>
          <p:cNvSpPr/>
          <p:nvPr/>
        </p:nvSpPr>
        <p:spPr>
          <a:xfrm>
            <a:off x="5705856" y="2176272"/>
            <a:ext cx="4218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BF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ENGINE — 100% B2B, ANNUAL RECURRING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070287" y="2176272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FCD11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proven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96712" y="2505456"/>
            <a:ext cx="56263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CAD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student / year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5705856" y="3035808"/>
            <a:ext cx="56263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All-inclusive — content, dashboards, parent app, equipment, on-site référent, connectivity.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705856" y="3364992"/>
            <a:ext cx="56263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C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school capex · annual contract lock-in · the whole business today.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94960" y="3913632"/>
            <a:ext cx="62298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UPSIDE · ROADMAP  </a:t>
            </a:r>
            <a:r>
              <a:rPr lang="en-US" sz="11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future monetization unlocked by proprietary per-child data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394960" y="4224528"/>
            <a:ext cx="6229807" cy="493776"/>
          </a:xfrm>
          <a:prstGeom prst="roundRect">
            <a:avLst>
              <a:gd name="adj" fmla="val 16667"/>
            </a:avLst>
          </a:prstGeom>
          <a:solidFill>
            <a:srgbClr val="FCFBF3"/>
          </a:solidFill>
          <a:ln w="12700">
            <a:solidFill>
              <a:srgbClr val="EAD9A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40" name="Text 38"/>
          <p:cNvSpPr/>
          <p:nvPr/>
        </p:nvSpPr>
        <p:spPr>
          <a:xfrm>
            <a:off x="5541264" y="4224528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5907024" y="4224528"/>
            <a:ext cx="434614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marketplace  </a:t>
            </a:r>
            <a:r>
              <a:rPr lang="en-US" sz="11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relevant courses to parents — matched to the child’s own results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344607" y="4343400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FFF3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parent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394960" y="4791456"/>
            <a:ext cx="6229807" cy="493776"/>
          </a:xfrm>
          <a:prstGeom prst="roundRect">
            <a:avLst>
              <a:gd name="adj" fmla="val 16667"/>
            </a:avLst>
          </a:prstGeom>
          <a:solidFill>
            <a:srgbClr val="FCFBF3"/>
          </a:solidFill>
          <a:ln w="12700">
            <a:solidFill>
              <a:srgbClr val="EAD9A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44" name="Text 42"/>
          <p:cNvSpPr/>
          <p:nvPr/>
        </p:nvSpPr>
        <p:spPr>
          <a:xfrm>
            <a:off x="5541264" y="4791456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5907024" y="4791456"/>
            <a:ext cx="434614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classes  </a:t>
            </a:r>
            <a:r>
              <a:rPr lang="en-US" sz="11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via our teacher network for the families the data flags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0344607" y="4910328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FFF3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parent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72784" y="5268498"/>
            <a:ext cx="62298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added CAC · direct to parent. Optionality on top of the core — not the day-one plan.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66928" y="5943600"/>
            <a:ext cx="11057839" cy="548640"/>
          </a:xfrm>
          <a:prstGeom prst="roundRect">
            <a:avLst>
              <a:gd name="adj" fmla="val 16667"/>
            </a:avLst>
          </a:prstGeom>
          <a:solidFill>
            <a:srgbClr val="EBF3EF"/>
          </a:solidFill>
          <a:ln w="12700">
            <a:solidFill>
              <a:srgbClr val="DCE8E2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49" name="Text 47"/>
          <p:cNvSpPr/>
          <p:nvPr/>
        </p:nvSpPr>
        <p:spPr>
          <a:xfrm>
            <a:off x="621792" y="594360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for adoption · software &amp; content for leverage.   </a:t>
            </a:r>
            <a:r>
              <a:rPr lang="en-US" sz="125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on-site référents secure daily retention; reusable software and content drive long-term margin.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11277295" y="65836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3749040" cy="310896"/>
          </a:xfrm>
          <a:prstGeom prst="roundRect">
            <a:avLst>
              <a:gd name="adj" fmla="val 50000"/>
            </a:avLst>
          </a:prstGeom>
          <a:solidFill>
            <a:srgbClr val="E1EFE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30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GO-TO-MARKET &amp; GROWTH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1167567" y="347472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a school with proof, expand with the cohort, and let results sell the next.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124358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sell to the </a:t>
            </a:r>
            <a:r>
              <a:rPr lang="en-US" sz="16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</a:t>
            </a:r>
            <a:r>
              <a:rPr lang="en-US" sz="16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differentiate on quality, give parents the follow-up they demand, at ~15–20% of fees and zero capex.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1700784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GO-TO-MARKET MOTION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1993392"/>
            <a:ext cx="5897880" cy="969264"/>
          </a:xfrm>
          <a:prstGeom prst="roundRect">
            <a:avLst>
              <a:gd name="adj" fmla="val 10377"/>
            </a:avLst>
          </a:prstGeom>
          <a:solidFill>
            <a:srgbClr val="FFFFF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768096" y="216712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35024" y="2093392"/>
            <a:ext cx="3758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a lighthouse school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66360" y="2130552"/>
            <a:ext cx="1133856" cy="256032"/>
          </a:xfrm>
          <a:prstGeom prst="roundRect">
            <a:avLst>
              <a:gd name="adj" fmla="val 46429"/>
            </a:avLst>
          </a:prstGeom>
          <a:solidFill>
            <a:srgbClr val="EAF1E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CAC: high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35024" y="2347088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proof pilot in one class — the director sees quality, parent engagement, and results first-hand.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35024" y="27175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pilot · free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50392" y="293522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218688"/>
            <a:ext cx="5897880" cy="969264"/>
          </a:xfrm>
          <a:prstGeom prst="roundRect">
            <a:avLst>
              <a:gd name="adj" fmla="val 10377"/>
            </a:avLst>
          </a:prstGeom>
          <a:solidFill>
            <a:srgbClr val="FFFFF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768096" y="3392424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35024" y="3318688"/>
            <a:ext cx="3758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with the cohort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66360" y="3355848"/>
            <a:ext cx="1133856" cy="256032"/>
          </a:xfrm>
          <a:prstGeom prst="roundRect">
            <a:avLst>
              <a:gd name="adj" fmla="val 46429"/>
            </a:avLst>
          </a:prstGeom>
          <a:solidFill>
            <a:srgbClr val="EAF1E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CAC: near-zero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35024" y="3572384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 → every primary grade → secondary as the cohort ages up. The subscription grows at near-zero CAC.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35024" y="39428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→ school → secondary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50392" y="416052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4443984"/>
            <a:ext cx="5897880" cy="969264"/>
          </a:xfrm>
          <a:prstGeom prst="roundRect">
            <a:avLst>
              <a:gd name="adj" fmla="val 10377"/>
            </a:avLst>
          </a:prstGeom>
          <a:solidFill>
            <a:srgbClr val="FFFFF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768096" y="4617720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335024" y="4543984"/>
            <a:ext cx="3758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sell the next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66360" y="4581144"/>
            <a:ext cx="1133856" cy="256032"/>
          </a:xfrm>
          <a:prstGeom prst="roundRect">
            <a:avLst>
              <a:gd name="adj" fmla="val 46429"/>
            </a:avLst>
          </a:prstGeom>
          <a:solidFill>
            <a:srgbClr val="EAF1E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CAC: ~0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35024" y="4797680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parents and director networks win neighbouring schools — clustered so one référent serves 2–3 schools.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35024" y="516811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Density-first · Douala + Yaoundé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" y="5449824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</a:t>
            </a:r>
            <a:r>
              <a:rPr lang="en-US" sz="10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cost falls at every stage — a proof-and-reference flywheel; lighthouse schools free, everyone after pays from proof.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20840" y="1700784"/>
            <a:ext cx="49039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ENGINE, TWO TRACKS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720840" y="2011680"/>
            <a:ext cx="4903927" cy="1664208"/>
          </a:xfrm>
          <a:prstGeom prst="roundRect">
            <a:avLst>
              <a:gd name="adj" fmla="val 7143"/>
            </a:avLst>
          </a:prstGeom>
          <a:solidFill>
            <a:srgbClr val="0A3626"/>
          </a:solidFill>
          <a:ln w="12700">
            <a:solidFill>
              <a:srgbClr val="0A3626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6995160" y="2194560"/>
            <a:ext cx="28922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F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· THE ENGINE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658807" y="2194560"/>
            <a:ext cx="1783080" cy="274320"/>
          </a:xfrm>
          <a:prstGeom prst="roundRect">
            <a:avLst>
              <a:gd name="adj" fmla="val 46667"/>
            </a:avLst>
          </a:prstGeom>
          <a:solidFill>
            <a:srgbClr val="FCD11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Investor-funded · profitable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95160" y="2487168"/>
            <a:ext cx="43552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in the cities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95160" y="2871216"/>
            <a:ext cx="453211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D9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private schools in Douala + Yaoundé. This is what the raise funds — the commercial core that proves the model.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720840" y="3822192"/>
            <a:ext cx="4903927" cy="166420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007A5E"/>
            </a:solidFill>
            <a:prstDash val="dash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6995160" y="4005072"/>
            <a:ext cx="28922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· THE MISSION IT UNLOCKS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795967" y="4005072"/>
            <a:ext cx="1645920" cy="274320"/>
          </a:xfrm>
          <a:prstGeom prst="roundRect">
            <a:avLst>
              <a:gd name="adj" fmla="val 46667"/>
            </a:avLst>
          </a:prstGeom>
          <a:solidFill>
            <a:srgbClr val="EDF6F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Ring-fenced funding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95160" y="4297680"/>
            <a:ext cx="43552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the underserved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95160" y="4681728"/>
            <a:ext cx="43552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results + brand bring EduCam to rural schools at reduced cost — funded by </a:t>
            </a:r>
            <a:r>
              <a:rPr lang="en-US" sz="14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partnerships, foundations &amp; grants, not investor capital.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20840" y="5596128"/>
            <a:ext cx="49039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unlock is proof of concept — </a:t>
            </a:r>
            <a:r>
              <a:rPr lang="en-US" sz="11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investors fund the engine; impact funders back the mission.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277295" y="65836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3794760" cy="310896"/>
          </a:xfrm>
          <a:prstGeom prst="roundRect">
            <a:avLst>
              <a:gd name="adj" fmla="val 50000"/>
            </a:avLst>
          </a:prstGeom>
          <a:solidFill>
            <a:srgbClr val="E1EFE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30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COMPETITIVE ADVANTAGE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1167567" y="347472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we’re alone. Tomorrow we’re hard to follow.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1243584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blue field — but not an empty one. </a:t>
            </a:r>
            <a:r>
              <a:rPr lang="en-US" sz="16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status quo (chalkboards, répétiteurs) leaves parents blind; Western pure-cloud edtech breaks on the ground. No one has solved primary school here.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5870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WE’RE ALONE — THREE BARRIERS KEPT EVERYONE OUT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157984"/>
            <a:ext cx="5870448" cy="859536"/>
          </a:xfrm>
          <a:prstGeom prst="roundRect">
            <a:avLst>
              <a:gd name="adj" fmla="val 11702"/>
            </a:avLst>
          </a:prstGeom>
          <a:solidFill>
            <a:srgbClr val="FFFFF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 sz="2000"/>
          </a:p>
        </p:txBody>
      </p:sp>
      <p:sp>
        <p:nvSpPr>
          <p:cNvPr id="8" name="Text 6"/>
          <p:cNvSpPr/>
          <p:nvPr/>
        </p:nvSpPr>
        <p:spPr>
          <a:xfrm>
            <a:off x="768096" y="2404872"/>
            <a:ext cx="1051560" cy="365760"/>
          </a:xfrm>
          <a:prstGeom prst="roundRect">
            <a:avLst>
              <a:gd name="adj" fmla="val 22500"/>
            </a:avLst>
          </a:prstGeom>
          <a:solidFill>
            <a:srgbClr val="FBED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938528" y="230428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grid is unreliable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99422" y="2157984"/>
            <a:ext cx="411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210902" y="2331720"/>
            <a:ext cx="2043594" cy="512064"/>
          </a:xfrm>
          <a:prstGeom prst="roundRect">
            <a:avLst>
              <a:gd name="adj" fmla="val 17857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projector + solar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163824"/>
            <a:ext cx="5870448" cy="859536"/>
          </a:xfrm>
          <a:prstGeom prst="roundRect">
            <a:avLst>
              <a:gd name="adj" fmla="val 11702"/>
            </a:avLst>
          </a:prstGeom>
          <a:solidFill>
            <a:srgbClr val="FFFFF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 sz="2000"/>
          </a:p>
        </p:txBody>
      </p:sp>
      <p:sp>
        <p:nvSpPr>
          <p:cNvPr id="13" name="Text 11"/>
          <p:cNvSpPr/>
          <p:nvPr/>
        </p:nvSpPr>
        <p:spPr>
          <a:xfrm>
            <a:off x="768096" y="3410712"/>
            <a:ext cx="1051560" cy="365760"/>
          </a:xfrm>
          <a:prstGeom prst="roundRect">
            <a:avLst>
              <a:gd name="adj" fmla="val 22500"/>
            </a:avLst>
          </a:prstGeom>
          <a:solidFill>
            <a:srgbClr val="FBED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938528" y="331012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patchy and costly.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99422" y="3163824"/>
            <a:ext cx="411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210902" y="3337560"/>
            <a:ext cx="2043594" cy="512064"/>
          </a:xfrm>
          <a:prstGeom prst="roundRect">
            <a:avLst>
              <a:gd name="adj" fmla="val 17857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by design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4169664"/>
            <a:ext cx="5870448" cy="859536"/>
          </a:xfrm>
          <a:prstGeom prst="roundRect">
            <a:avLst>
              <a:gd name="adj" fmla="val 11702"/>
            </a:avLst>
          </a:prstGeom>
          <a:solidFill>
            <a:srgbClr val="FFFFF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 sz="2000"/>
          </a:p>
        </p:txBody>
      </p:sp>
      <p:sp>
        <p:nvSpPr>
          <p:cNvPr id="18" name="Text 16"/>
          <p:cNvSpPr/>
          <p:nvPr/>
        </p:nvSpPr>
        <p:spPr>
          <a:xfrm>
            <a:off x="768096" y="4416552"/>
            <a:ext cx="1051560" cy="365760"/>
          </a:xfrm>
          <a:prstGeom prst="roundRect">
            <a:avLst>
              <a:gd name="adj" fmla="val 22500"/>
            </a:avLst>
          </a:prstGeom>
          <a:solidFill>
            <a:srgbClr val="FBED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938528" y="4315968"/>
            <a:ext cx="18552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won’t spend up-front.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99422" y="4169664"/>
            <a:ext cx="411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210902" y="4343400"/>
            <a:ext cx="2043594" cy="512064"/>
          </a:xfrm>
          <a:prstGeom prst="roundRect">
            <a:avLst>
              <a:gd name="adj" fmla="val 17857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full-service delivery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6928" y="5175504"/>
            <a:ext cx="5870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pure-cloud edtech fails on all three — which is why it isn’t here.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20840" y="1828800"/>
            <a:ext cx="49039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WE’RE HARD TO FOLLOW — THE MOAT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20840" y="2157984"/>
            <a:ext cx="4903927" cy="859536"/>
          </a:xfrm>
          <a:prstGeom prst="roundRect">
            <a:avLst>
              <a:gd name="adj" fmla="val 11702"/>
            </a:avLst>
          </a:prstGeom>
          <a:solidFill>
            <a:srgbClr val="EDF6F1"/>
          </a:solidFill>
          <a:ln w="15875">
            <a:solidFill>
              <a:srgbClr val="007A5E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 sz="2000"/>
          </a:p>
        </p:txBody>
      </p:sp>
      <p:sp>
        <p:nvSpPr>
          <p:cNvPr id="25" name="Text 23"/>
          <p:cNvSpPr/>
          <p:nvPr/>
        </p:nvSpPr>
        <p:spPr>
          <a:xfrm>
            <a:off x="6903720" y="24048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397496" y="2286000"/>
            <a:ext cx="27642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full stack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207447" y="2313432"/>
            <a:ext cx="1243584" cy="256032"/>
          </a:xfrm>
          <a:prstGeom prst="roundRect">
            <a:avLst>
              <a:gd name="adj" fmla="val 46429"/>
            </a:avLst>
          </a:prstGeom>
          <a:solidFill>
            <a:srgbClr val="FCD11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MOAT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97496" y="2587752"/>
            <a:ext cx="4062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curriculum, custom illustrations &amp; animation, and an offline-first codebase — years of craft, built from scratch.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20840" y="3163824"/>
            <a:ext cx="4903927" cy="859536"/>
          </a:xfrm>
          <a:prstGeom prst="roundRect">
            <a:avLst>
              <a:gd name="adj" fmla="val 11702"/>
            </a:avLst>
          </a:prstGeom>
          <a:solidFill>
            <a:srgbClr val="FFFFF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 sz="2000"/>
          </a:p>
        </p:txBody>
      </p:sp>
      <p:sp>
        <p:nvSpPr>
          <p:cNvPr id="30" name="Text 28"/>
          <p:cNvSpPr/>
          <p:nvPr/>
        </p:nvSpPr>
        <p:spPr>
          <a:xfrm>
            <a:off x="6903720" y="34107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397496" y="3291840"/>
            <a:ext cx="27642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 zero-capex distribution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207447" y="3319272"/>
            <a:ext cx="1243584" cy="256032"/>
          </a:xfrm>
          <a:prstGeom prst="roundRect">
            <a:avLst>
              <a:gd name="adj" fmla="val 46429"/>
            </a:avLst>
          </a:prstGeom>
          <a:solidFill>
            <a:srgbClr val="ECEF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moat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97496" y="3593592"/>
            <a:ext cx="4062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All-inclusive hardware + on-site support removes every adoption barrier — and locks schools into an annual ecosystem.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720840" y="4169664"/>
            <a:ext cx="4903927" cy="859536"/>
          </a:xfrm>
          <a:prstGeom prst="roundRect">
            <a:avLst>
              <a:gd name="adj" fmla="val 11702"/>
            </a:avLst>
          </a:prstGeom>
          <a:solidFill>
            <a:srgbClr val="FFFFF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 sz="2000"/>
          </a:p>
        </p:txBody>
      </p:sp>
      <p:sp>
        <p:nvSpPr>
          <p:cNvPr id="35" name="Text 33"/>
          <p:cNvSpPr/>
          <p:nvPr/>
        </p:nvSpPr>
        <p:spPr>
          <a:xfrm>
            <a:off x="6903720" y="44165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397496" y="4297680"/>
            <a:ext cx="27642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Accumulating learning data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207447" y="4325112"/>
            <a:ext cx="1243584" cy="256032"/>
          </a:xfrm>
          <a:prstGeom prst="roundRect">
            <a:avLst>
              <a:gd name="adj" fmla="val 46429"/>
            </a:avLst>
          </a:prstGeom>
          <a:solidFill>
            <a:srgbClr val="ECEF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moat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97496" y="4599432"/>
            <a:ext cx="4062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assessment data deepens personalization and builds student histories that are hard to copy.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20840" y="5175504"/>
            <a:ext cx="490392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Incumbents won’t come: hyper-local, offline, services-heavy, low-glamour — exactly what global players avoid.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6928" y="5943600"/>
            <a:ext cx="11057839" cy="548640"/>
          </a:xfrm>
          <a:prstGeom prst="roundRect">
            <a:avLst>
              <a:gd name="adj" fmla="val 16667"/>
            </a:avLst>
          </a:prstGeom>
          <a:solidFill>
            <a:srgbClr val="0A3626"/>
          </a:solidFill>
          <a:ln w="12700">
            <a:solidFill>
              <a:srgbClr val="0A3626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 sz="2000"/>
          </a:p>
        </p:txBody>
      </p:sp>
      <p:sp>
        <p:nvSpPr>
          <p:cNvPr id="41" name="Text 39"/>
          <p:cNvSpPr/>
          <p:nvPr/>
        </p:nvSpPr>
        <p:spPr>
          <a:xfrm>
            <a:off x="566928" y="5943600"/>
            <a:ext cx="110761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barriers that blocked everyone are exactly what we solved — </a:t>
            </a:r>
            <a:r>
              <a:rPr lang="en-US" sz="130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rebuilding the full stack, the delivery, and the data is the barrier for anyone who follows.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1277295" y="65836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1EFE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30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TEAM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167567" y="347472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foot in North American tech, one in the Cameroonian classroom.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124358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 team that has already shipped — with deep pedagogical roots on the ground where it matters.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1755648"/>
            <a:ext cx="3502152" cy="332841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1787652" y="1975104"/>
            <a:ext cx="10607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49808" y="3273552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Maxime TSAGUE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3566160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6968" y="3877056"/>
            <a:ext cx="2862072" cy="274320"/>
          </a:xfrm>
          <a:prstGeom prst="roundRect">
            <a:avLst>
              <a:gd name="adj" fmla="val 43333"/>
            </a:avLst>
          </a:prstGeom>
          <a:solidFill>
            <a:srgbClr val="EBF3E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 founder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242816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+ McGill MBA (Finance &amp; Entrepreneurship). Leads platform build and business development.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" y="4626864"/>
            <a:ext cx="3136392" cy="329184"/>
          </a:xfrm>
          <a:prstGeom prst="roundRect">
            <a:avLst>
              <a:gd name="adj" fmla="val 25000"/>
            </a:avLst>
          </a:prstGeom>
          <a:solidFill>
            <a:srgbClr val="EDF6F1"/>
          </a:solidFill>
          <a:ln/>
        </p:spPr>
        <p:txBody>
          <a:bodyPr/>
          <a:lstStyle/>
          <a:p>
            <a:endParaRPr lang="en-CA" sz="4400"/>
          </a:p>
        </p:txBody>
      </p:sp>
      <p:sp>
        <p:nvSpPr>
          <p:cNvPr id="14" name="Text 12"/>
          <p:cNvSpPr/>
          <p:nvPr/>
        </p:nvSpPr>
        <p:spPr>
          <a:xfrm>
            <a:off x="749808" y="4626864"/>
            <a:ext cx="3136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Québec, Canada</a:t>
            </a:r>
            <a:r>
              <a:rPr lang="en-US" sz="1200" dirty="0">
                <a:solidFill>
                  <a:srgbClr val="9F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2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Grow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1755648"/>
            <a:ext cx="3502152" cy="332841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5564124" y="1975104"/>
            <a:ext cx="10607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526280" y="3273552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Jimmy Ryan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26280" y="3566160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· Technical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63440" y="3877056"/>
            <a:ext cx="2862072" cy="274320"/>
          </a:xfrm>
          <a:prstGeom prst="roundRect">
            <a:avLst>
              <a:gd name="adj" fmla="val 43333"/>
            </a:avLst>
          </a:prstGeom>
          <a:solidFill>
            <a:srgbClr val="EBF3E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· completing PhD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99432" y="4242816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 and PhD candidate. Guides architecture and production.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26280" y="4626864"/>
            <a:ext cx="3136392" cy="329184"/>
          </a:xfrm>
          <a:prstGeom prst="roundRect">
            <a:avLst>
              <a:gd name="adj" fmla="val 25000"/>
            </a:avLst>
          </a:prstGeom>
          <a:solidFill>
            <a:srgbClr val="EDF6F1"/>
          </a:solidFill>
          <a:ln/>
        </p:spPr>
        <p:txBody>
          <a:bodyPr/>
          <a:lstStyle/>
          <a:p>
            <a:endParaRPr lang="en-CA" sz="3600"/>
          </a:p>
        </p:txBody>
      </p:sp>
      <p:sp>
        <p:nvSpPr>
          <p:cNvPr id="23" name="Text 21"/>
          <p:cNvSpPr/>
          <p:nvPr/>
        </p:nvSpPr>
        <p:spPr>
          <a:xfrm>
            <a:off x="4526280" y="4626864"/>
            <a:ext cx="3136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Texas, USA</a:t>
            </a:r>
            <a:r>
              <a:rPr lang="en-US" sz="1200" dirty="0">
                <a:solidFill>
                  <a:srgbClr val="9F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2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19872" y="1755648"/>
            <a:ext cx="3502152" cy="332841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9340596" y="1975104"/>
            <a:ext cx="10607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8302752" y="3273552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Chanceline </a:t>
            </a:r>
            <a:r>
              <a:rPr lang="en-US" sz="1450" b="1" dirty="0" err="1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Kenkeu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302752" y="3566160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Pedagogy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39912" y="3877056"/>
            <a:ext cx="2862072" cy="274320"/>
          </a:xfrm>
          <a:prstGeom prst="roundRect">
            <a:avLst>
              <a:gd name="adj" fmla="val 43333"/>
            </a:avLst>
          </a:prstGeom>
          <a:solidFill>
            <a:srgbClr val="EBF3E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team member ·  local shareholder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75904" y="4242816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26+ years teaching. Owns lesson design and classroom rollout in Cameroon.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302752" y="4626864"/>
            <a:ext cx="3136392" cy="329184"/>
          </a:xfrm>
          <a:prstGeom prst="roundRect">
            <a:avLst>
              <a:gd name="adj" fmla="val 25000"/>
            </a:avLst>
          </a:prstGeom>
          <a:solidFill>
            <a:srgbClr val="EDF6F1"/>
          </a:solidFill>
          <a:ln/>
        </p:spPr>
        <p:txBody>
          <a:bodyPr/>
          <a:lstStyle/>
          <a:p>
            <a:endParaRPr lang="en-CA" sz="3600"/>
          </a:p>
        </p:txBody>
      </p:sp>
      <p:sp>
        <p:nvSpPr>
          <p:cNvPr id="32" name="Text 30"/>
          <p:cNvSpPr/>
          <p:nvPr/>
        </p:nvSpPr>
        <p:spPr>
          <a:xfrm>
            <a:off x="8302752" y="4626864"/>
            <a:ext cx="3136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Cameroon</a:t>
            </a:r>
            <a:r>
              <a:rPr lang="en-US" sz="1200" dirty="0">
                <a:solidFill>
                  <a:srgbClr val="9F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2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&amp; On-the-ground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6928" y="5358384"/>
            <a:ext cx="11057839" cy="640080"/>
          </a:xfrm>
          <a:prstGeom prst="roundRect">
            <a:avLst>
              <a:gd name="adj" fmla="val 14286"/>
            </a:avLst>
          </a:prstGeom>
          <a:solidFill>
            <a:srgbClr val="0A3626"/>
          </a:solidFill>
          <a:ln w="12700">
            <a:solidFill>
              <a:srgbClr val="0A3626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932688" y="5358384"/>
            <a:ext cx="103263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shipped:  </a:t>
            </a:r>
            <a:r>
              <a:rPr lang="en-US" sz="1600" dirty="0">
                <a:solidFill>
                  <a:srgbClr val="E7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offline platform with real content and a live demo.     </a:t>
            </a:r>
            <a:r>
              <a:rPr lang="en-US" sz="1400" b="1" dirty="0">
                <a:solidFill>
                  <a:srgbClr val="BFE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round adds:  </a:t>
            </a:r>
            <a:r>
              <a:rPr lang="en-US" sz="1400" dirty="0">
                <a:solidFill>
                  <a:srgbClr val="A9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a proprietary content &amp; animation lead — the moat;  (2) local operations &amp; référents.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277295" y="65836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6928" y="65836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and headshots are placeholders.</a:t>
            </a:r>
            <a:endParaRPr lang="en-US" sz="800" dirty="0"/>
          </a:p>
        </p:txBody>
      </p:sp>
      <p:pic>
        <p:nvPicPr>
          <p:cNvPr id="40" name="Image 39">
            <a:extLst>
              <a:ext uri="{FF2B5EF4-FFF2-40B4-BE49-F238E27FC236}">
                <a16:creationId xmlns:a16="http://schemas.microsoft.com/office/drawing/2014/main" id="{34D6DD2D-FC29-4813-C70A-0627B2DF3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3212" y="1927584"/>
            <a:ext cx="1415472" cy="141547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2" name="Image 41">
            <a:extLst>
              <a:ext uri="{FF2B5EF4-FFF2-40B4-BE49-F238E27FC236}">
                <a16:creationId xmlns:a16="http://schemas.microsoft.com/office/drawing/2014/main" id="{D9A62A3F-B6EA-F304-EA81-C161542CD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626" y="1897380"/>
            <a:ext cx="1412748" cy="14127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4" name="Image 43">
            <a:extLst>
              <a:ext uri="{FF2B5EF4-FFF2-40B4-BE49-F238E27FC236}">
                <a16:creationId xmlns:a16="http://schemas.microsoft.com/office/drawing/2014/main" id="{407EEB8C-4722-C33B-E60E-92CA95407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316" y="1865947"/>
            <a:ext cx="1425321" cy="14253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3383280" cy="310896"/>
          </a:xfrm>
          <a:prstGeom prst="roundRect">
            <a:avLst>
              <a:gd name="adj" fmla="val 50000"/>
            </a:avLst>
          </a:prstGeom>
          <a:solidFill>
            <a:srgbClr val="E1EFE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30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THE ASK &amp; ROADMAP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167567" y="310896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07A5E"/>
          </a:solidFill>
          <a:ln>
            <a:solidFill>
              <a:srgbClr val="007A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round deepens the moat and proves the market.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115214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CAD 100K</a:t>
            </a:r>
            <a:r>
              <a:rPr lang="en-US" sz="16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(illustrative — to confirm).  Two priorities + runway; positive unit economics front-load the first cohort, not burn.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  ·  $20K + $60K + $20K = CAD 100K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1810512"/>
            <a:ext cx="3502152" cy="2212848"/>
          </a:xfrm>
          <a:prstGeom prst="roundRect">
            <a:avLst>
              <a:gd name="adj" fmla="val 5372"/>
            </a:avLst>
          </a:prstGeom>
          <a:solidFill>
            <a:srgbClr val="EDF6F1"/>
          </a:solidFill>
          <a:ln w="15875">
            <a:solidFill>
              <a:srgbClr val="007A5E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804672" y="1975104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 · THE MOAT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2231136"/>
            <a:ext cx="3044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$20K</a:t>
            </a:r>
            <a:r>
              <a:rPr lang="en-US" sz="12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04672" y="267004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content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" y="2980944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illustrator / animator / instructional designer building in-context images and animated videos in-house — proprietary, defensible IP.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365760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proprietary, contextualized lesson library.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43400" y="1810512"/>
            <a:ext cx="3502152" cy="2212848"/>
          </a:xfrm>
          <a:prstGeom prst="roundRect">
            <a:avLst>
              <a:gd name="adj" fmla="val 5372"/>
            </a:avLst>
          </a:prstGeom>
          <a:solidFill>
            <a:srgbClr val="EDF6F1"/>
          </a:solidFill>
          <a:ln w="15875">
            <a:solidFill>
              <a:srgbClr val="007A5E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4581144" y="1975104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 · THE ENGINE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81144" y="2231136"/>
            <a:ext cx="3044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$60K</a:t>
            </a:r>
            <a:r>
              <a:rPr lang="en-US" sz="12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81144" y="267004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market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81144" y="2980944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+ equipment kits + on-site référents + school recruitment across Douala + Yaoundé. Convert lighthouse schools to paying.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81144" y="3657600"/>
            <a:ext cx="31426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~15–20 paying schools  ·  ≈ $400–600K ARR run-rate.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19872" y="1810512"/>
            <a:ext cx="3502152" cy="2212848"/>
          </a:xfrm>
          <a:prstGeom prst="roundRect">
            <a:avLst>
              <a:gd name="adj" fmla="val 5372"/>
            </a:avLst>
          </a:prstGeom>
          <a:solidFill>
            <a:srgbClr val="F1F3F2"/>
          </a:solidFill>
          <a:ln w="12700">
            <a:solidFill>
              <a:srgbClr val="DCE8E2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8357616" y="1975104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· 18–24 MONTHS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57616" y="2231136"/>
            <a:ext cx="3044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$20K</a:t>
            </a:r>
            <a:r>
              <a:rPr lang="en-US" sz="120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357616" y="267004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buffer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357616" y="2980944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runway and continuous product refinement through the pilot-to-paying transition.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57616" y="365760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Real fundamentals for the next round.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" y="4261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9808" y="4956048"/>
            <a:ext cx="10692079" cy="0"/>
          </a:xfrm>
          <a:prstGeom prst="line">
            <a:avLst/>
          </a:prstGeom>
          <a:noFill/>
          <a:ln w="25400">
            <a:solidFill>
              <a:srgbClr val="CFE7DC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27" name="Shape 25"/>
          <p:cNvSpPr/>
          <p:nvPr/>
        </p:nvSpPr>
        <p:spPr>
          <a:xfrm>
            <a:off x="804672" y="4873752"/>
            <a:ext cx="164592" cy="164592"/>
          </a:xfrm>
          <a:prstGeom prst="ellipse">
            <a:avLst/>
          </a:prstGeom>
          <a:solidFill>
            <a:srgbClr val="007A5E"/>
          </a:solidFill>
          <a:ln w="12700">
            <a:solidFill>
              <a:srgbClr val="007A5E"/>
            </a:solidFill>
            <a:prstDash val="solid"/>
          </a:ln>
        </p:spPr>
        <p:txBody>
          <a:bodyPr/>
          <a:lstStyle/>
          <a:p>
            <a:endParaRPr lang="en-CA" sz="2800"/>
          </a:p>
        </p:txBody>
      </p:sp>
      <p:sp>
        <p:nvSpPr>
          <p:cNvPr id="28" name="Text 26"/>
          <p:cNvSpPr/>
          <p:nvPr/>
        </p:nvSpPr>
        <p:spPr>
          <a:xfrm>
            <a:off x="704088" y="4517136"/>
            <a:ext cx="258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2026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4088" y="5102352"/>
            <a:ext cx="2490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Francophone lighthouse pilot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569132" y="4873752"/>
            <a:ext cx="164592" cy="164592"/>
          </a:xfrm>
          <a:prstGeom prst="ellipse">
            <a:avLst/>
          </a:prstGeom>
          <a:solidFill>
            <a:srgbClr val="007A5E"/>
          </a:solidFill>
          <a:ln w="12700">
            <a:solidFill>
              <a:srgbClr val="007A5E"/>
            </a:solidFill>
            <a:prstDash val="solid"/>
          </a:ln>
        </p:spPr>
        <p:txBody>
          <a:bodyPr/>
          <a:lstStyle/>
          <a:p>
            <a:endParaRPr lang="en-CA" sz="2800"/>
          </a:p>
        </p:txBody>
      </p:sp>
      <p:sp>
        <p:nvSpPr>
          <p:cNvPr id="31" name="Text 29"/>
          <p:cNvSpPr/>
          <p:nvPr/>
        </p:nvSpPr>
        <p:spPr>
          <a:xfrm>
            <a:off x="3468548" y="4517136"/>
            <a:ext cx="258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468548" y="5102352"/>
            <a:ext cx="2490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paying cohort (DLA + Yde) · land-and-expand · English pilot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33592" y="4873752"/>
            <a:ext cx="164592" cy="164592"/>
          </a:xfrm>
          <a:prstGeom prst="ellipse">
            <a:avLst/>
          </a:prstGeom>
          <a:solidFill>
            <a:srgbClr val="007A5E"/>
          </a:solidFill>
          <a:ln w="12700">
            <a:solidFill>
              <a:srgbClr val="007A5E"/>
            </a:solidFill>
            <a:prstDash val="solid"/>
          </a:ln>
        </p:spPr>
        <p:txBody>
          <a:bodyPr/>
          <a:lstStyle/>
          <a:p>
            <a:endParaRPr lang="en-CA" sz="2800"/>
          </a:p>
        </p:txBody>
      </p:sp>
      <p:sp>
        <p:nvSpPr>
          <p:cNvPr id="34" name="Text 32"/>
          <p:cNvSpPr/>
          <p:nvPr/>
        </p:nvSpPr>
        <p:spPr>
          <a:xfrm>
            <a:off x="6233008" y="4517136"/>
            <a:ext cx="258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33008" y="5102352"/>
            <a:ext cx="2490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two cities · begin secondary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098051" y="4873752"/>
            <a:ext cx="164592" cy="164592"/>
          </a:xfrm>
          <a:prstGeom prst="ellipse">
            <a:avLst/>
          </a:prstGeom>
          <a:solidFill>
            <a:srgbClr val="007A5E"/>
          </a:solidFill>
          <a:ln w="12700">
            <a:solidFill>
              <a:srgbClr val="007A5E"/>
            </a:solidFill>
            <a:prstDash val="solid"/>
          </a:ln>
        </p:spPr>
        <p:txBody>
          <a:bodyPr/>
          <a:lstStyle/>
          <a:p>
            <a:endParaRPr lang="en-CA" sz="2800"/>
          </a:p>
        </p:txBody>
      </p:sp>
      <p:sp>
        <p:nvSpPr>
          <p:cNvPr id="37" name="Text 35"/>
          <p:cNvSpPr/>
          <p:nvPr/>
        </p:nvSpPr>
        <p:spPr>
          <a:xfrm>
            <a:off x="8997467" y="4517136"/>
            <a:ext cx="258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997467" y="5102352"/>
            <a:ext cx="2490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E3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Foundation-funded rural track · new cities &amp; countries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66928" y="5998464"/>
            <a:ext cx="11057839" cy="566928"/>
          </a:xfrm>
          <a:prstGeom prst="roundRect">
            <a:avLst>
              <a:gd name="adj" fmla="val 16129"/>
            </a:avLst>
          </a:prstGeom>
          <a:solidFill>
            <a:srgbClr val="0A3626"/>
          </a:solidFill>
          <a:ln w="12700">
            <a:solidFill>
              <a:srgbClr val="0A3626"/>
            </a:solidFill>
            <a:prstDash val="solid"/>
          </a:ln>
          <a:effectLst>
            <a:outerShdw blurRad="88900" dist="25400" dir="5400000" algn="bl" rotWithShape="0">
              <a:srgbClr val="A7B2AC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566928" y="599846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talk. 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info@academiemansamusa.com</a:t>
            </a:r>
            <a:r>
              <a:rPr lang="en-US" sz="1400" i="1" dirty="0">
                <a:solidFill>
                  <a:srgbClr val="A9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Building the daily operating system for the primary classroom.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277295" y="66202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-v2/close-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295" y="0"/>
            <a:ext cx="5486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59575" y="0"/>
            <a:ext cx="45720" cy="6858000"/>
          </a:xfrm>
          <a:prstGeom prst="rect">
            <a:avLst/>
          </a:prstGeom>
          <a:solidFill>
            <a:srgbClr val="FCD11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1"/>
          <p:cNvSpPr/>
          <p:nvPr/>
        </p:nvSpPr>
        <p:spPr>
          <a:xfrm>
            <a:off x="566928" y="1371600"/>
            <a:ext cx="5635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9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85216" y="1773936"/>
            <a:ext cx="822960" cy="73152"/>
          </a:xfrm>
          <a:prstGeom prst="roundRect">
            <a:avLst>
              <a:gd name="adj" fmla="val 50000"/>
            </a:avLst>
          </a:prstGeom>
          <a:solidFill>
            <a:srgbClr val="FCD11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566928" y="1993392"/>
            <a:ext cx="5635447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you’re born should </a:t>
            </a:r>
            <a:r>
              <a:rPr lang="en-US" sz="310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deciding what you learn.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585216" y="3995928"/>
            <a:ext cx="554400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E7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a profitable engine in the cities — and use its proof to bring the same standard of learning to every child, wherever they’re born.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66928" y="5815584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CD116"/>
          </a:solidFill>
          <a:ln>
            <a:solidFill>
              <a:srgbClr val="FCD1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3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225296" y="5815584"/>
            <a:ext cx="49770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EduCam</a:t>
            </a:r>
            <a:r>
              <a:rPr lang="en-US" sz="1400" dirty="0">
                <a:solidFill>
                  <a:srgbClr val="A9C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by Mansa Musa Academy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2242</Words>
  <Application>Microsoft Office PowerPoint</Application>
  <PresentationFormat>Grand écran</PresentationFormat>
  <Paragraphs>312</Paragraphs>
  <Slides>12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Maxime TSAGUE</cp:lastModifiedBy>
  <cp:revision>5</cp:revision>
  <dcterms:created xsi:type="dcterms:W3CDTF">2026-08-23T21:44:34Z</dcterms:created>
  <dcterms:modified xsi:type="dcterms:W3CDTF">2026-08-23T23:02:02Z</dcterms:modified>
</cp:coreProperties>
</file>